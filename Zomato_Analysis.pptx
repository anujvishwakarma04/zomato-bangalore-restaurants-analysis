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2F2F2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Budget</c:v>
                </c:pt>
                <c:pt idx="1">
                  <c:v>Mid-range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3.55</c:v>
                </c:pt>
                <c:pt idx="1">
                  <c:v>3.67</c:v>
                </c:pt>
                <c:pt idx="2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EB-4049-8851-0600259DB4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2F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DBD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2F2F2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Under 50 votes</c:v>
                </c:pt>
                <c:pt idx="1">
                  <c:v>50 to 499 votes</c:v>
                </c:pt>
                <c:pt idx="2">
                  <c:v>500+ votes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3.42</c:v>
                </c:pt>
                <c:pt idx="1">
                  <c:v>3.72</c:v>
                </c:pt>
                <c:pt idx="2">
                  <c:v>4.1500000000000004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94-464D-9EF4-477CC24564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2F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DBD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2F2F2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BBQ</c:v>
                </c:pt>
                <c:pt idx="1">
                  <c:v>Steak</c:v>
                </c:pt>
                <c:pt idx="2">
                  <c:v>Asian</c:v>
                </c:pt>
                <c:pt idx="3">
                  <c:v>European</c:v>
                </c:pt>
                <c:pt idx="4">
                  <c:v>Mediterranean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3.99</c:v>
                </c:pt>
                <c:pt idx="1">
                  <c:v>4.04</c:v>
                </c:pt>
                <c:pt idx="2">
                  <c:v>4.09</c:v>
                </c:pt>
                <c:pt idx="3">
                  <c:v>4.16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5-44B4-9CBA-2F886DE02D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2F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DBD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2F2F2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Delivery</c:v>
                </c:pt>
                <c:pt idx="1">
                  <c:v>Desserts</c:v>
                </c:pt>
                <c:pt idx="2">
                  <c:v>Cafes</c:v>
                </c:pt>
                <c:pt idx="3">
                  <c:v>Pubs and bars</c:v>
                </c:pt>
                <c:pt idx="4">
                  <c:v>Buffet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3.68</c:v>
                </c:pt>
                <c:pt idx="2">
                  <c:v>3.8</c:v>
                </c:pt>
                <c:pt idx="3">
                  <c:v>3.82</c:v>
                </c:pt>
                <c:pt idx="4">
                  <c:v>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17-4591-8A1F-537EA6A98D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2F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DBD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72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2F2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Bangalore Restaurants: What Drives Rating?</a:t>
            </a:r>
            <a:endParaRPr lang="en-US" sz="36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9,281 Zomato restaurants using Python, MySQL and Power BI</a:t>
            </a:r>
            <a:endParaRPr lang="en-US" sz="1600" dirty="0"/>
          </a:p>
        </p:txBody>
      </p:sp>
      <p:sp>
        <p:nvSpPr>
          <p:cNvPr id="5" name="Footer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Analyst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2F2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The dashboard at a glance</a:t>
            </a:r>
            <a:endParaRPr lang="en-US" sz="2200" dirty="0"/>
          </a:p>
        </p:txBody>
      </p:sp>
      <p:pic>
        <p:nvPicPr>
          <p:cNvPr id="4" name="Dashboard screenshot" descr="/mnt/user-data/outputs/Zomato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08660"/>
            <a:ext cx="8595360" cy="4330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2F2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From 51,717 raw rows to 9,281 restaurants</a:t>
            </a:r>
            <a:endParaRPr lang="en-US" sz="2200" dirty="0"/>
          </a:p>
        </p:txBody>
      </p:sp>
      <p:sp>
        <p:nvSpPr>
          <p:cNvPr id="4" name="Card 1"/>
          <p:cNvSpPr/>
          <p:nvPr/>
        </p:nvSpPr>
        <p:spPr>
          <a:xfrm>
            <a:off x="365760" y="10058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Card value 1"/>
          <p:cNvSpPr txBox="1"/>
          <p:nvPr/>
        </p:nvSpPr>
        <p:spPr>
          <a:xfrm>
            <a:off x="54864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3744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51,717</a:t>
            </a:r>
            <a:endParaRPr lang="en-US" sz="3600" dirty="0"/>
          </a:p>
        </p:txBody>
      </p:sp>
      <p:sp>
        <p:nvSpPr>
          <p:cNvPr id="6" name="Card label 1"/>
          <p:cNvSpPr txBox="1"/>
          <p:nvPr/>
        </p:nvSpPr>
        <p:spPr>
          <a:xfrm>
            <a:off x="54864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rows, with many restaurants listed more than once</a:t>
            </a:r>
            <a:endParaRPr lang="en-US" sz="1300" dirty="0"/>
          </a:p>
        </p:txBody>
      </p:sp>
      <p:sp>
        <p:nvSpPr>
          <p:cNvPr id="7" name="Card 2"/>
          <p:cNvSpPr/>
          <p:nvPr/>
        </p:nvSpPr>
        <p:spPr>
          <a:xfrm>
            <a:off x="3200400" y="10058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Card value 2"/>
          <p:cNvSpPr txBox="1"/>
          <p:nvPr/>
        </p:nvSpPr>
        <p:spPr>
          <a:xfrm>
            <a:off x="338328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3744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12,499</a:t>
            </a:r>
            <a:endParaRPr lang="en-US" sz="3600" dirty="0"/>
          </a:p>
        </p:txBody>
      </p:sp>
      <p:sp>
        <p:nvSpPr>
          <p:cNvPr id="9" name="Card label 2"/>
          <p:cNvSpPr txBox="1"/>
          <p:nvPr/>
        </p:nvSpPr>
        <p:spPr>
          <a:xfrm>
            <a:off x="338328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restaurants after removing repeats</a:t>
            </a:r>
            <a:endParaRPr lang="en-US" sz="1300" dirty="0"/>
          </a:p>
        </p:txBody>
      </p:sp>
      <p:sp>
        <p:nvSpPr>
          <p:cNvPr id="10" name="Card 3"/>
          <p:cNvSpPr/>
          <p:nvPr/>
        </p:nvSpPr>
        <p:spPr>
          <a:xfrm>
            <a:off x="6035040" y="10058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Card value 3"/>
          <p:cNvSpPr txBox="1"/>
          <p:nvPr/>
        </p:nvSpPr>
        <p:spPr>
          <a:xfrm>
            <a:off x="621792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3744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9,281</a:t>
            </a:r>
            <a:endParaRPr lang="en-US" sz="3600" dirty="0"/>
          </a:p>
        </p:txBody>
      </p:sp>
      <p:sp>
        <p:nvSpPr>
          <p:cNvPr id="12" name="Card label 3"/>
          <p:cNvSpPr txBox="1"/>
          <p:nvPr/>
        </p:nvSpPr>
        <p:spPr>
          <a:xfrm>
            <a:off x="621792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 with a valid rating and cost</a:t>
            </a:r>
            <a:endParaRPr lang="en-US" sz="1300" dirty="0"/>
          </a:p>
        </p:txBody>
      </p:sp>
      <p:sp>
        <p:nvSpPr>
          <p:cNvPr id="13" name="Cleaning note"/>
          <p:cNvSpPr txBox="1"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gaps were fixed in Power Query: 37 missing restaurant types were set to "Unknown", and one ₹6,000 restaurant with no cost band was set to "Premium".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2F2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Premium restaurants rate higher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572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rice takeaways"/>
          <p:cNvSpPr txBox="1"/>
          <p:nvPr/>
        </p:nvSpPr>
        <p:spPr>
          <a:xfrm>
            <a:off x="5120640" y="109728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rating rises from 3.55 (Budget) to 4.10 (Premium)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and rating move together, but only modestly (correlation about 0.33)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booking adds about 0.2 to 0.4 rating points in every cost band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about 10% of restaurants offer table booking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2F2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Popular restaurants rate higher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572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opularity takeaways"/>
          <p:cNvSpPr txBox="1"/>
          <p:nvPr/>
        </p:nvSpPr>
        <p:spPr>
          <a:xfrm>
            <a:off x="5120640" y="109728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top 10% of restaurants by votes hold about 65% of all votes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223 hidden gems are rated 4.0 or higher, cost ₹500 or less for two, and have under 100 votes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Good, cheap places are being overlooked by most diners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2F2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Cuisine and format</a:t>
            </a:r>
            <a:endParaRPr lang="en-US" sz="2200" dirty="0"/>
          </a:p>
        </p:txBody>
      </p:sp>
      <p:sp>
        <p:nvSpPr>
          <p:cNvPr id="4" name="Cuisine label"/>
          <p:cNvSpPr txBox="1"/>
          <p:nvPr/>
        </p:nvSpPr>
        <p:spPr>
          <a:xfrm>
            <a:off x="36576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Highest-rated cuisines (50+ restaurants)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Format label"/>
          <p:cNvSpPr txBox="1"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BD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rating by restaurant format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09728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uisine note"/>
          <p:cNvSpPr txBox="1"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Mediterranean, European and Asian cuisines rate highest, and they cost about ₹1,300 to ₹1,500 for two.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2F2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What to take away</a:t>
            </a:r>
            <a:endParaRPr lang="en-US" sz="2200" dirty="0"/>
          </a:p>
        </p:txBody>
      </p:sp>
      <p:sp>
        <p:nvSpPr>
          <p:cNvPr id="4" name="Takeaways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restaurants rate higher, but cost is only a modest guide to quality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booking goes with higher ratings in every cost band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few popular restaurants hold most of the votes, so the hidden gems are easy to miss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Mediterranean, European and Asian cuisines rate highest, and restaurants with more cuisines rate slightly higher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2F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is not causation, and cost for two is an estimate from the listing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On-screen Show 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Segoe UI</vt:lpstr>
      <vt:lpstr>Segoe UI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Bangalore Restaurant Analysis</dc:title>
  <dc:subject>PptxGenJS Presentation</dc:subject>
  <dc:creator>PptxGenJS</dc:creator>
  <cp:lastModifiedBy>Anuj Vishwakarma</cp:lastModifiedBy>
  <cp:revision>2</cp:revision>
  <dcterms:created xsi:type="dcterms:W3CDTF">2026-10-16T06:33:57Z</dcterms:created>
  <dcterms:modified xsi:type="dcterms:W3CDTF">2026-10-16T06:44:59Z</dcterms:modified>
</cp:coreProperties>
</file>